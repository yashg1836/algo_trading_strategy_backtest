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(%)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45-42CC-9FC5-617F0D209ED9}"/>
              </c:ext>
            </c:extLst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45-42CC-9FC5-617F0D209ED9}"/>
              </c:ext>
            </c:extLst>
          </c:dPt>
          <c:dPt>
            <c:idx val="2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45-42CC-9FC5-617F0D209ED9}"/>
              </c:ext>
            </c:extLst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45-42CC-9FC5-617F0D209ED9}"/>
              </c:ext>
            </c:extLst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245-42CC-9FC5-617F0D209E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Market
(B&amp;H)</c:v>
                </c:pt>
                <c:pt idx="1">
                  <c:v>Moving
Average</c:v>
                </c:pt>
                <c:pt idx="2">
                  <c:v>Momentum
(RSI)</c:v>
                </c:pt>
                <c:pt idx="3">
                  <c:v>Mean
Reversion</c:v>
                </c:pt>
                <c:pt idx="4">
                  <c:v>Breakout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38.53</c:v>
                </c:pt>
                <c:pt idx="2">
                  <c:v>1.62</c:v>
                </c:pt>
                <c:pt idx="3">
                  <c:v>-20.309999999999999</c:v>
                </c:pt>
                <c:pt idx="4">
                  <c:v>-30.41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245-42CC-9FC5-617F0D209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4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Gandhinagar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Modelling and Engineering (ES 418)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Trading Strategy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Backtesting Platform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0" y="3063240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Goyal (24110399)  •  Rahul Ramteke (24110288)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Dewansh Singh Chandel  •  Ayush Tanwar (23110056)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Prof. Mithun Radhakrishna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69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Algorithmic Trading?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computational methods and mathematical models to make trading decisions in financial markets, based on predefined rules from historical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042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2432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trading processes large datasets efficiently and executes trades with precision—eliminating emotional bias and enabling consistent evaluation of strategies.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38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platform that allows users to design, test, and compare multiple algorithmic trading strategies using historical market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Core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strategies appear effective in theory but fail in real-world data. A systematic backtesting platform bridges theory and practice by evaluating profitability and risk using historical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97480" cy="2743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market value of a share—fluctuates with demand/supply, company performance, and economic factors.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97480" cy="2743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92024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= (Pₜ − Pₜ₋₁) / Pₜ₋₁  •  Measures % change in price; compounded over time for overall performance.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97480" cy="2743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 returns. Strategies with large return fluctuations are riskier—quantified via volatility and drawdown.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068" y="1554480"/>
            <a:ext cx="36576" cy="228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005840"/>
            <a:ext cx="78181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stock data collected via Yahoo Finance (yfinance)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4068" y="2331720"/>
            <a:ext cx="36576" cy="228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783080"/>
            <a:ext cx="78181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Computation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0848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RSI, rolling mean, breakout levels computed from past data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4068" y="3108960"/>
            <a:ext cx="36576" cy="228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2560320"/>
            <a:ext cx="78181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620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 / Hold signals generated based on strategy rules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068" y="3886200"/>
            <a:ext cx="36576" cy="228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3337560"/>
            <a:ext cx="78181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515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Simulation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6393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applied to next time step's return to simulate trades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60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0120" y="4114800"/>
            <a:ext cx="78181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515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4165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return, Sharpe ratio, and max drawdown are calculated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computations use only past data — no look-ahead bias.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Strategies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0" y="841248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strategies evaluated on AAPL stock · January 2020 – January 2024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60520" cy="1508760"/>
          </a:xfrm>
          <a:prstGeom prst="rect">
            <a:avLst/>
          </a:prstGeom>
          <a:solidFill>
            <a:srgbClr val="1A3080"/>
          </a:solidFill>
          <a:ln w="1905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0584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Average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MA50 vs MA100 crossover — trend-following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60520" cy="1508760"/>
          </a:xfrm>
          <a:prstGeom prst="rect">
            <a:avLst/>
          </a:prstGeom>
          <a:solidFill>
            <a:srgbClr val="1A3080"/>
          </a:solidFill>
          <a:ln w="19050">
            <a:solidFill>
              <a:srgbClr val="90CA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1005840" cy="274320"/>
          </a:xfrm>
          <a:prstGeom prst="rect">
            <a:avLst/>
          </a:prstGeom>
          <a:solidFill>
            <a:srgbClr val="1C3A8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Momentum (RSI)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&lt; 30 buy, RSI &gt; 70 sell — momentum shifts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160520" cy="1508760"/>
          </a:xfrm>
          <a:prstGeom prst="rect">
            <a:avLst/>
          </a:prstGeom>
          <a:solidFill>
            <a:srgbClr val="1A3080"/>
          </a:solidFill>
          <a:ln w="19050">
            <a:solidFill>
              <a:srgbClr val="90CA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1005840" cy="274320"/>
          </a:xfrm>
          <a:prstGeom prst="rect">
            <a:avLst/>
          </a:prstGeom>
          <a:solidFill>
            <a:srgbClr val="1C3A8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Reversion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below rolling mean, sell above — range-bound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4160520" cy="1508760"/>
          </a:xfrm>
          <a:prstGeom prst="rect">
            <a:avLst/>
          </a:prstGeom>
          <a:solidFill>
            <a:srgbClr val="1A3080"/>
          </a:solidFill>
          <a:ln w="19050">
            <a:solidFill>
              <a:srgbClr val="90CAF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1005840" cy="274320"/>
          </a:xfrm>
          <a:prstGeom prst="rect">
            <a:avLst/>
          </a:prstGeom>
          <a:solidFill>
            <a:srgbClr val="1C3A8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above resistance, sell below support — trend initiation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Average Strategy (Primary)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trend-following technique based on the assumption that prices move in identifiable trends using averages of past prices.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920240" cy="1188720"/>
          </a:xfrm>
          <a:prstGeom prst="rect">
            <a:avLst/>
          </a:prstGeom>
          <a:solidFill>
            <a:srgbClr val="F0F4FF"/>
          </a:solidFill>
          <a:ln w="254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 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50-day moving average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short-term trend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20240" cy="1188720"/>
          </a:xfrm>
          <a:prstGeom prst="rect">
            <a:avLst/>
          </a:prstGeom>
          <a:solidFill>
            <a:srgbClr val="F0F4FF"/>
          </a:solidFill>
          <a:ln w="25400">
            <a:solidFill>
              <a:srgbClr val="E5737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 100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100-day moving average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212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long-term trend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931920" cy="640080"/>
          </a:xfrm>
          <a:prstGeom prst="rect">
            <a:avLst/>
          </a:prstGeom>
          <a:solidFill>
            <a:srgbClr val="F0F4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MA50 crosses above MA100 → start of upward trend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3931920" cy="640080"/>
          </a:xfrm>
          <a:prstGeom prst="rect">
            <a:avLst/>
          </a:prstGeom>
          <a:solidFill>
            <a:srgbClr val="F0F4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MA50 crosses below MA100 → potential downward trend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868680"/>
            <a:ext cx="4297680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Chart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13258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Moving Average crossover strategy applied on AAPL stock (2020–2024)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moving averages (MA50 &amp; MA100) plotted over price. Buy signals appear when MA50 crosses above MA100 and sell signals when it crosses below.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434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May generate false signals in sideways or highly volatile markets.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4023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97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78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(RSI)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Relative Strength Index (0–100)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&lt; 30 → Oversold → Buy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&gt; 70 → Overbought → Sell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volatile markets; misleading during strong trends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4023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97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978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statistically revert to their average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&lt; Rolling Mean → Buy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Rolling Mean → Sell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range-bound markets; fails in trending markets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97480" cy="4023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697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978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strong price moves at trend initiation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Recent High (Resistance) → Buy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&lt; Recent Low (Support) → Sell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false breakouts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Backtesting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simulates how a trading strategy would have performed using historical market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84632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Time Step: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financial indicators from past data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Buy / Sell / Hold signal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signal to the next time step's market return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4846320" cy="685800"/>
          </a:xfrm>
          <a:prstGeom prst="rect">
            <a:avLst/>
          </a:prstGeom>
          <a:solidFill>
            <a:srgbClr val="F0F4FF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Return(t)  =  Market Return(t)  ×  Signal(t−1)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325880"/>
            <a:ext cx="3383280" cy="2743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389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755648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trading involves brokerage fees and slippage. These costs are not explicitly incorporated in the current implementation but can be modeled by subtracting a fixed percentage (e.g., 0.1% per trade) at each Buy/Sell signal.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transaction costs would reduce overall profitability, especially for high-frequency strategies.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returns are compounded daily for comparison against buy-and-hold benchmark.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9144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Return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= (Final Value − Initial Value) / Initial Value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6550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total profitability of the strategy over the backtesting period.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9144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70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= (Mean Return / Std Dev) × √252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9809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return relative to risk taken.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6974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2: Excellent   |   &gt; 1: Good   |   &lt; 1: Risky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11880"/>
            <a:ext cx="9144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Maximum Drawdown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995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= (Current Value − Peak Value) / Peak Value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43068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worst peak-to-trough loss experienced.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4023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10%: Low risk   |   10–30%: Moderate   |   &gt; 30%: High risk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yfinance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stock price data via Yahoo Finance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preprocessing, time-series handling, rolling windows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411480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price trends and cumulative returns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114800" cy="868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user interface for strategy selection and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38728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stock symbol (e.g., AAPL)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date range for analysis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trading strategy (or compare multiple)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performance metrics and graphical results in real time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(Buy &amp; Hold)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(RSI)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365760" y="3154680"/>
          <a:ext cx="8412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86968"/>
            <a:ext cx="8412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Moving Average (38.53%) significantly underperformed Market Buy &amp; Hold (150%) over the same period.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strategies are reactive, not predictive. In AAPL's bull market (2020–2024), the strategy exits during minor corrections and re-enters only after recovery—missing significant gains.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84124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Whipsaw Effects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MA50/MA100 crossovers during sideways markets generate multiple false Buy/Sell signals, accumulating small losses over 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84124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Sharpe Ratio of ~0.50 for Moving Average indicates moderate risk-adjusted returns—profitable but not sufficiently high relative to volatility.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84124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86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 Dependence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2611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strategy is optimal under all conditions. Mean Reversion and Breakout failed due to the strongly trending market behavior during the selected period.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passive strategies can outperform active trading in long-term bullish markets.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0" y="841248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1078992"/>
            <a:ext cx="7818120" cy="530352"/>
          </a:xfrm>
          <a:prstGeom prst="rect">
            <a:avLst/>
          </a:prstGeom>
          <a:solidFill>
            <a:srgbClr val="1A3080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7899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backtesting platform was developed to evaluate multiple algorithmic trading strategies using historical market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" y="1856232"/>
            <a:ext cx="7818120" cy="530352"/>
          </a:xfrm>
          <a:prstGeom prst="rect">
            <a:avLst/>
          </a:prstGeom>
          <a:solidFill>
            <a:srgbClr val="1A3080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85623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Crossover was the best-performing algorithmic strategy (38.53% return, moderate risk). Mean Reversion and Breakout produced negative returns.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2633472"/>
            <a:ext cx="7818120" cy="530352"/>
          </a:xfrm>
          <a:prstGeom prst="rect">
            <a:avLst/>
          </a:prstGeom>
          <a:solidFill>
            <a:srgbClr val="1A3080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63347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algorithmic strategies underperformed the Market Buy &amp; Hold benchmark (~150%), highlighting the strength of passive investing in bull markets.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0120" y="3410712"/>
            <a:ext cx="7818120" cy="530352"/>
          </a:xfrm>
          <a:prstGeom prst="rect">
            <a:avLst/>
          </a:prstGeom>
          <a:solidFill>
            <a:srgbClr val="1A3080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41071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strategy consistently outperforms across all scenarios—effectiveness is highly dependent on prevailing market conditions.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" y="4187952"/>
            <a:ext cx="7818120" cy="530352"/>
          </a:xfrm>
          <a:prstGeom prst="rect">
            <a:avLst/>
          </a:prstGeom>
          <a:solidFill>
            <a:srgbClr val="1A3080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187952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reinforces the need for careful strategy selection, risk-aware evaluation, and comparison against reliable benchmarks.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Project Links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(Streamlit)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https://algotradingstrategybacktest.streamlit.app/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38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https://github.com/YashG1836/Algo_Trading_Strategy_Backtest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20574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Notes (Added for Presentation)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Incorporate transaction costs (0.1% per trade) for more realistic backtesting results.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extensible — additional strategies (e.g., MACD, Bollinger Bands) can be integrated with minimal changes.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signal generation (e.g., LSTM, Random Forest) can be explored as an enhancement to the current rule-based approach.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diversification (running multiple strategies simultaneously) may reduce risk and improve overall risk-adjusted returns.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1333</Words>
  <Application>Microsoft Office PowerPoint</Application>
  <PresentationFormat>On-screen Show (16:9)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Trading Strategy Backtesting Platform</dc:title>
  <dc:subject>PptxGenJS Presentation</dc:subject>
  <dc:creator>PptxGenJS</dc:creator>
  <cp:lastModifiedBy>Yash Goyal</cp:lastModifiedBy>
  <cp:revision>1</cp:revision>
  <dcterms:created xsi:type="dcterms:W3CDTF">2026-04-18T10:18:34Z</dcterms:created>
  <dcterms:modified xsi:type="dcterms:W3CDTF">2026-04-18T11:18:33Z</dcterms:modified>
</cp:coreProperties>
</file>